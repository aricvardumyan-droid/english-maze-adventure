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323" r:id="rId17"/>
    <p:sldId id="297" r:id="rId18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3" autoAdjust="0"/>
    <p:restoredTop sz="95388" autoAdjust="0"/>
  </p:normalViewPr>
  <p:slideViewPr>
    <p:cSldViewPr snapToGrid="0" snapToObjects="1">
      <p:cViewPr varScale="1">
        <p:scale>
          <a:sx n="90" d="100"/>
          <a:sy n="90" d="100"/>
        </p:scale>
        <p:origin x="552" y="9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NUL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100" y="347374"/>
            <a:ext cx="679180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sq-AL" b="0" dirty="0"/>
              <a:t>English Maze Adventure</a:t>
            </a:r>
            <a:br>
              <a:rPr lang="ru-RU" b="0" dirty="0"/>
            </a:br>
            <a:br>
              <a:rPr lang="ru-RU" sz="1600" b="0" dirty="0"/>
            </a:br>
            <a:r>
              <a:rPr lang="ru-RU" sz="1600" b="0" dirty="0"/>
              <a:t>Образовательная игра-головоломка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8BBF4D-2DCC-4614-BCC4-FEF4D0AA9BFA}"/>
              </a:ext>
            </a:extLst>
          </p:cNvPr>
          <p:cNvSpPr/>
          <p:nvPr/>
        </p:nvSpPr>
        <p:spPr>
          <a:xfrm>
            <a:off x="7811384" y="4955349"/>
            <a:ext cx="49476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Работу выполнил:</a:t>
            </a:r>
          </a:p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Вардумян Эрик </a:t>
            </a:r>
            <a:r>
              <a:rPr lang="ru-RU" dirty="0" err="1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Араратович</a:t>
            </a:r>
            <a:endParaRPr lang="ru-RU" dirty="0">
              <a:solidFill>
                <a:schemeClr val="bg1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Руководитель проекта:</a:t>
            </a:r>
          </a:p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Грачев Николай Романович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3009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33671"/>
            <a:ext cx="6583680" cy="4724329"/>
          </a:xfrm>
        </p:spPr>
        <p:txBody>
          <a:bodyPr rtlCol="0">
            <a:normAutofit fontScale="40000" lnSpcReduction="20000"/>
          </a:bodyPr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Актуальность проблемы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Идея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Задачи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Концепция 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Социальная значимость проекта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Целевая аудитория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Основные модули и технологии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Особенности реализации и структура наследования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Результаты и выводы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48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Перспективы развития</a:t>
            </a:r>
            <a:br>
              <a:rPr lang="ru-RU" sz="4800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162" y="219035"/>
            <a:ext cx="4674936" cy="2453985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Актуальность проблемы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36142B-9709-42FB-8ACF-BFFD6DF82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7" y="1451851"/>
            <a:ext cx="3859618" cy="385961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2098B6E-A292-463D-A827-375462B7CBB0}"/>
              </a:ext>
            </a:extLst>
          </p:cNvPr>
          <p:cNvSpPr/>
          <p:nvPr/>
        </p:nvSpPr>
        <p:spPr>
          <a:xfrm>
            <a:off x="4958162" y="2806426"/>
            <a:ext cx="575945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Изучение английского часто вызывает ощущение скуки и отсутствие живого общения. Традиционные методики не вдохновляют, особенно когда учишься сам. Необходимы средства, которые сделают процесс интересным и интерактивным.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9" y="219292"/>
            <a:ext cx="6981082" cy="2495028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Идея проекта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3CF101-6447-4867-BFFF-A650976562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300" y="3160324"/>
            <a:ext cx="537210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Создать интерактивную обучающую игру. Игрок участвует в приключении, где для продвижения нужно решать задания на английском. Это стимулирует интерес и улучшает усвоение языка.</a:t>
            </a:r>
          </a:p>
        </p:txBody>
      </p:sp>
      <p:pic>
        <p:nvPicPr>
          <p:cNvPr id="2053" name="Picture 5" descr="Picture background">
            <a:extLst>
              <a:ext uri="{FF2B5EF4-FFF2-40B4-BE49-F238E27FC236}">
                <a16:creationId xmlns:a16="http://schemas.microsoft.com/office/drawing/2014/main" id="{0E52DCF9-1252-465B-865F-912816FD8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9" b="9233"/>
          <a:stretch/>
        </p:blipFill>
        <p:spPr bwMode="auto">
          <a:xfrm>
            <a:off x="6502400" y="1581106"/>
            <a:ext cx="508952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186691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Задачи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5A14D4-66F8-4E50-A077-D4C20BA8DC9B}"/>
              </a:ext>
            </a:extLst>
          </p:cNvPr>
          <p:cNvSpPr/>
          <p:nvPr/>
        </p:nvSpPr>
        <p:spPr>
          <a:xfrm>
            <a:off x="3462737" y="509801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Обеспечить сохранение прогресса и анализ результатов пользователя.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2ADEA2D-9563-4293-ADC1-B28B493D6565}"/>
              </a:ext>
            </a:extLst>
          </p:cNvPr>
          <p:cNvSpPr/>
          <p:nvPr/>
        </p:nvSpPr>
        <p:spPr>
          <a:xfrm>
            <a:off x="6591300" y="399001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Создать адаптивную систему сложности, соответствующую уровням CEFR* (A1-C2).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C60269C-0E0B-40C1-9344-87FE89644E87}"/>
              </a:ext>
            </a:extLst>
          </p:cNvPr>
          <p:cNvSpPr/>
          <p:nvPr/>
        </p:nvSpPr>
        <p:spPr>
          <a:xfrm>
            <a:off x="3289300" y="2882487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Интегрировать систему генерации и проверки заданий по английскому.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AC917C-FE48-4E6A-8C1B-D38B4B14F9BC}"/>
              </a:ext>
            </a:extLst>
          </p:cNvPr>
          <p:cNvSpPr/>
          <p:nvPr/>
        </p:nvSpPr>
        <p:spPr>
          <a:xfrm>
            <a:off x="6591300" y="1699879"/>
            <a:ext cx="6096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Реализовать игровой движок с механикой лабиринта, врагами и физикой.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4696536-E010-4E54-9C99-170FA0416B73}"/>
              </a:ext>
            </a:extLst>
          </p:cNvPr>
          <p:cNvSpPr/>
          <p:nvPr/>
        </p:nvSpPr>
        <p:spPr>
          <a:xfrm>
            <a:off x="6366675" y="6280622"/>
            <a:ext cx="6257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*</a:t>
            </a:r>
            <a:r>
              <a:rPr lang="sq-AL" sz="14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CEFR (Common European Framework of Reference for Languages) — </a:t>
            </a:r>
            <a:r>
              <a:rPr lang="ru-RU" sz="14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Общеевропейская система уровней владения иностранным языком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719" y="481936"/>
            <a:ext cx="5885180" cy="147246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Концепция приложения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B3BE92-09E1-4274-AC5F-F16A4E70318C}"/>
              </a:ext>
            </a:extLst>
          </p:cNvPr>
          <p:cNvSpPr/>
          <p:nvPr/>
        </p:nvSpPr>
        <p:spPr>
          <a:xfrm>
            <a:off x="5147310" y="3429000"/>
            <a:ext cx="6096000" cy="23544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Игрок выбирает свой текущий и целевой уровень английского. </a:t>
            </a:r>
          </a:p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Его цель — пройти 5 уровней лабиринта, каждый из которых сложнее предыдущего. </a:t>
            </a:r>
          </a:p>
          <a:p>
            <a:pPr algn="ctr"/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Чтобы открыть дверь к следующему уровню, нужно правильно ответить на 5 тестов по английскому, соответствующих уровню сложности.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ACC9B4-3003-4CBC-8942-772B1E00D26A}"/>
              </a:ext>
            </a:extLst>
          </p:cNvPr>
          <p:cNvSpPr/>
          <p:nvPr/>
        </p:nvSpPr>
        <p:spPr>
          <a:xfrm>
            <a:off x="6648251" y="2356555"/>
            <a:ext cx="3094117" cy="58477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3200" dirty="0"/>
              <a:t>«Играй и учись»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850" y="567935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Социальная значимость проекта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E0F399-3E31-4247-AAB7-EBDF33E8EFE3}"/>
              </a:ext>
            </a:extLst>
          </p:cNvPr>
          <p:cNvSpPr/>
          <p:nvPr/>
        </p:nvSpPr>
        <p:spPr>
          <a:xfrm>
            <a:off x="650850" y="2430840"/>
            <a:ext cx="7270082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Доступность: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Игра предлагает бесплатный и увлекательный способ учить язык вне класса.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Геймификация обучения: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Превращает скучное запоминание в мотивирующий квест, что особенно важно для поколения Z.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Персонализация: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подстраивается под начальный уровень и цели пользователя, создавая индивидуальную программу обучения.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Развитие навыков: 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Игра помогает развивать логику, реакцию и стратегическое мышление вместе с изучением языка.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99" y="170856"/>
            <a:ext cx="7155402" cy="1091627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Целевая аудитория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254D23-1C81-4AC4-85D3-FCA9064A1456}"/>
              </a:ext>
            </a:extLst>
          </p:cNvPr>
          <p:cNvSpPr/>
          <p:nvPr/>
        </p:nvSpPr>
        <p:spPr>
          <a:xfrm>
            <a:off x="1174602" y="1892696"/>
            <a:ext cx="5598337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100" i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Проект создан для разнообразной, но конкретной аудитории:</a:t>
            </a:r>
          </a:p>
          <a:p>
            <a:pPr algn="ctr"/>
            <a:endParaRPr lang="ru-RU" sz="2100" u="sng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algn="ctr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Школьники и студенты.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Игра поможет разнообразить учебный процесс и сделать его более увлекательным.</a:t>
            </a:r>
          </a:p>
          <a:p>
            <a:pPr algn="ctr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Взрослые, изучающие язык самостоятельно.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Игра позволит поддерживать и улучшать уровень владения языком в удобном темпе.</a:t>
            </a:r>
          </a:p>
          <a:p>
            <a:pPr algn="ctr">
              <a:buFont typeface="+mj-lt"/>
              <a:buAutoNum type="arabicPeriod"/>
            </a:pPr>
            <a:r>
              <a:rPr lang="ru-RU" sz="21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Преподаватели.</a:t>
            </a:r>
            <a:r>
              <a:rPr lang="ru-RU" sz="21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Это дополнительный инструмент для вовлечения учеников на уроках или в домашних заданиях.</a:t>
            </a:r>
          </a:p>
        </p:txBody>
      </p:sp>
      <p:pic>
        <p:nvPicPr>
          <p:cNvPr id="5127" name="Picture 7" descr="Picture background">
            <a:extLst>
              <a:ext uri="{FF2B5EF4-FFF2-40B4-BE49-F238E27FC236}">
                <a16:creationId xmlns:a16="http://schemas.microsoft.com/office/drawing/2014/main" id="{21A5764D-0575-4D85-99B7-D26B6142C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625600"/>
            <a:ext cx="5232400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15762"/>
            <a:ext cx="12192000" cy="1012782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Основные модули и технологии</a:t>
            </a:r>
            <a:br>
              <a:rPr lang="ru-RU" dirty="0"/>
            </a:b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47CDB8-C441-45F8-A80E-0B218CAD1688}"/>
              </a:ext>
            </a:extLst>
          </p:cNvPr>
          <p:cNvSpPr/>
          <p:nvPr/>
        </p:nvSpPr>
        <p:spPr>
          <a:xfrm>
            <a:off x="1446915" y="1309696"/>
            <a:ext cx="750569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Ключевые модули:</a:t>
            </a: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GameView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Основной игровой цикл, управление спрайтами</a:t>
            </a:r>
            <a:r>
              <a:rPr lang="ru-RU" sz="200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коллизиями 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 физикой (реализован собственный класс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PhysicsEngine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EnglishQuizSystem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PlayerDatabase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Сердце образовательной части. Система загружает вопросы из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SQLite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базы данных (более 300 вопросов, разбитых по 6 уровням CEFR) и управляет прогрессом игрока.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Классы игровых объектов (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Door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Enemy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Platform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частиц и звука (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ParticleSystem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SoundManager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ru-RU" sz="2000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View</a:t>
            </a:r>
            <a:r>
              <a:rPr lang="ru-RU" sz="2000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-менеджер (стартовое, финальное окно, окно вопроса)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828" y="512946"/>
            <a:ext cx="10921428" cy="980844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Особенности реализации и структура наследования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D3986-BEAD-46E4-B3C2-276E0DF57F4F}"/>
              </a:ext>
            </a:extLst>
          </p:cNvPr>
          <p:cNvSpPr txBox="1"/>
          <p:nvPr/>
        </p:nvSpPr>
        <p:spPr>
          <a:xfrm>
            <a:off x="774387" y="1779687"/>
            <a:ext cx="70086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Структура наследования: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Базовый класс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arcade.View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От него наследуются все сцены игры: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StartView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GameView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QuizView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VictoryView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GameOverView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и другие. Это позволяет легко переключаться между меню, игрой и диалогами.</a:t>
            </a:r>
          </a:p>
          <a:p>
            <a:endParaRPr lang="ru-RU" b="1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r>
              <a:rPr lang="ru-RU" b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Ключевые классы и их особенности: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PhysicsEngine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Кастомный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движок для обработки гравитации, прыжков и столкновений с платформами и стенами.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Enemy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Враги имеют сложный патрульный путь, который генерируется в зависимости от номера уровня, повышая сложность.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PlayerDatabase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Централизованный менеджер работы с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SQLite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. Хранит прогресс, статистику ошибок, вопросы и таблицу рекордов, обеспечивая целостность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EnglishQuestion</a:t>
            </a:r>
            <a:r>
              <a:rPr lang="ru-RU" u="sng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(</a:t>
            </a:r>
            <a:r>
              <a:rPr lang="ru-RU" u="sng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dataclass</a:t>
            </a:r>
            <a:r>
              <a:rPr lang="ru-RU" u="sng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Используется современный </a:t>
            </a:r>
            <a:r>
              <a:rPr lang="ru-RU" dirty="0" err="1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dataclass</a:t>
            </a:r>
            <a:r>
              <a:rPr lang="ru-RU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 для удобного представления вопроса с полями для текста, вариантов, правильного ответа и пояснения.</a:t>
            </a:r>
          </a:p>
        </p:txBody>
      </p:sp>
      <p:pic>
        <p:nvPicPr>
          <p:cNvPr id="1029" name="Picture 5" descr="Picture background">
            <a:extLst>
              <a:ext uri="{FF2B5EF4-FFF2-40B4-BE49-F238E27FC236}">
                <a16:creationId xmlns:a16="http://schemas.microsoft.com/office/drawing/2014/main" id="{E123BD44-4D38-4D81-BCA0-4917CDFF8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423" y="2719088"/>
            <a:ext cx="4600353" cy="292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420" y="171035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Результаты и выводы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12AB01C-402D-431B-9FB8-6A120B344A18}"/>
              </a:ext>
            </a:extLst>
          </p:cNvPr>
          <p:cNvSpPr/>
          <p:nvPr/>
        </p:nvSpPr>
        <p:spPr>
          <a:xfrm>
            <a:off x="1261730" y="1302625"/>
            <a:ext cx="659573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Реализованный функционал:</a:t>
            </a:r>
          </a:p>
          <a:p>
            <a:endParaRPr lang="ru-RU" b="1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Полноценный игровой движок: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5 уровней лабиринта с увеличивающейся сложностью, движущиеся враги, платформенная физика с прыжками.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Образовательная система: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База из 300+ вопросов по грамматике и лексике для 6 уровней английского (A1-C2). Задания выводятся в формате теста с пояснениями.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Система прогресса: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Сохранение статистики, количества очков, рекордов в </a:t>
            </a:r>
            <a:r>
              <a:rPr lang="ru-RU" dirty="0" err="1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SQLite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Полиграфия и звук: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Анимации движения, сбора ключей, открытия дверей, система частиц для эффектов, фоновые звуки и звуковые эффекты.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solidFill>
                <a:srgbClr val="0F1115"/>
              </a:solidFill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b="1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Удобный интерфейс:</a:t>
            </a:r>
            <a:r>
              <a:rPr lang="ru-RU" dirty="0">
                <a:solidFill>
                  <a:srgbClr val="0F1115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 Система меню, пауза, подсказки, понятный HUD с отображением ключей, времени и счета.</a:t>
            </a:r>
            <a:endParaRPr lang="ru-RU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DA0775-B24B-4047-8959-3DC78C5C5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315" y="2179673"/>
            <a:ext cx="3859619" cy="385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73506"/>
            <a:ext cx="10511627" cy="99015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Перспективы развития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FCC904-3118-4A21-BEC9-53424CF609BA}"/>
              </a:ext>
            </a:extLst>
          </p:cNvPr>
          <p:cNvSpPr/>
          <p:nvPr/>
        </p:nvSpPr>
        <p:spPr>
          <a:xfrm>
            <a:off x="513692" y="1572251"/>
            <a:ext cx="113130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i="1" dirty="0"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Перспективы</a:t>
            </a:r>
            <a:endParaRPr lang="ru-RU" sz="2400" i="1" dirty="0">
              <a:latin typeface="Liberation Serif" panose="02020603050405020304" pitchFamily="18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cxnSp>
        <p:nvCxnSpPr>
          <p:cNvPr id="12" name="Соединитель: изогнутый 11">
            <a:extLst>
              <a:ext uri="{FF2B5EF4-FFF2-40B4-BE49-F238E27FC236}">
                <a16:creationId xmlns:a16="http://schemas.microsoft.com/office/drawing/2014/main" id="{3AADC4EC-FDE6-4ADA-9F9D-F5B410EFB564}"/>
              </a:ext>
            </a:extLst>
          </p:cNvPr>
          <p:cNvCxnSpPr>
            <a:cxnSpLocks/>
            <a:endCxn id="36" idx="0"/>
          </p:cNvCxnSpPr>
          <p:nvPr/>
        </p:nvCxnSpPr>
        <p:spPr>
          <a:xfrm rot="10800000" flipV="1">
            <a:off x="3762767" y="2148467"/>
            <a:ext cx="2191466" cy="79890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37DF33BD-41B5-4691-BC45-D61354D4E162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6365359" y="2148468"/>
            <a:ext cx="2195449" cy="855675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B540455-739C-4198-AD6B-591061B3582C}"/>
              </a:ext>
            </a:extLst>
          </p:cNvPr>
          <p:cNvSpPr/>
          <p:nvPr/>
        </p:nvSpPr>
        <p:spPr>
          <a:xfrm>
            <a:off x="439479" y="4291245"/>
            <a:ext cx="2364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Расширение базы вопросов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349D742-06C3-421C-A6FD-B94ADE393CC6}"/>
              </a:ext>
            </a:extLst>
          </p:cNvPr>
          <p:cNvSpPr/>
          <p:nvPr/>
        </p:nvSpPr>
        <p:spPr>
          <a:xfrm>
            <a:off x="2554925" y="5020314"/>
            <a:ext cx="2269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Увеличение контента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F1D117F-AFD0-4BDF-8A85-8034C44AC38F}"/>
              </a:ext>
            </a:extLst>
          </p:cNvPr>
          <p:cNvSpPr/>
          <p:nvPr/>
        </p:nvSpPr>
        <p:spPr>
          <a:xfrm>
            <a:off x="4575099" y="4452542"/>
            <a:ext cx="1485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Мультиплеер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ECA5CFB-9792-4AC9-9C7A-3659992AEF88}"/>
              </a:ext>
            </a:extLst>
          </p:cNvPr>
          <p:cNvSpPr/>
          <p:nvPr/>
        </p:nvSpPr>
        <p:spPr>
          <a:xfrm>
            <a:off x="8760899" y="4452542"/>
            <a:ext cx="26651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Адаптация под другие языки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17E4594-F562-4910-8588-646B81C6FDE3}"/>
              </a:ext>
            </a:extLst>
          </p:cNvPr>
          <p:cNvSpPr/>
          <p:nvPr/>
        </p:nvSpPr>
        <p:spPr>
          <a:xfrm>
            <a:off x="6845270" y="4452541"/>
            <a:ext cx="19156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Образовательная платформа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A24467D-91FD-4C48-9A1A-D0AF3A660837}"/>
              </a:ext>
            </a:extLst>
          </p:cNvPr>
          <p:cNvSpPr/>
          <p:nvPr/>
        </p:nvSpPr>
        <p:spPr>
          <a:xfrm>
            <a:off x="7729971" y="3004143"/>
            <a:ext cx="1661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/>
              <a:t>Долгосрочные</a:t>
            </a:r>
            <a:r>
              <a:rPr lang="ru-RU" dirty="0"/>
              <a:t> 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82E25EF-F7D3-4039-84EF-E18BA0582C07}"/>
              </a:ext>
            </a:extLst>
          </p:cNvPr>
          <p:cNvSpPr/>
          <p:nvPr/>
        </p:nvSpPr>
        <p:spPr>
          <a:xfrm>
            <a:off x="2800356" y="2947369"/>
            <a:ext cx="19248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u="sng" dirty="0"/>
              <a:t>Краткосрочные</a:t>
            </a:r>
            <a:r>
              <a:rPr lang="ru-RU" dirty="0"/>
              <a:t> 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81743E75-402C-47F3-A6DE-6E2FCC6DBBDD}"/>
              </a:ext>
            </a:extLst>
          </p:cNvPr>
          <p:cNvCxnSpPr>
            <a:cxnSpLocks/>
          </p:cNvCxnSpPr>
          <p:nvPr/>
        </p:nvCxnSpPr>
        <p:spPr>
          <a:xfrm flipH="1">
            <a:off x="1520457" y="3478852"/>
            <a:ext cx="1607096" cy="7316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6FF3AF03-F316-45A5-9828-68AFDA96D3F4}"/>
              </a:ext>
            </a:extLst>
          </p:cNvPr>
          <p:cNvCxnSpPr>
            <a:cxnSpLocks/>
          </p:cNvCxnSpPr>
          <p:nvPr/>
        </p:nvCxnSpPr>
        <p:spPr>
          <a:xfrm>
            <a:off x="3689499" y="3478852"/>
            <a:ext cx="0" cy="14587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13617FAB-8B8C-40E3-8FB6-219973D5543E}"/>
              </a:ext>
            </a:extLst>
          </p:cNvPr>
          <p:cNvCxnSpPr>
            <a:cxnSpLocks/>
          </p:cNvCxnSpPr>
          <p:nvPr/>
        </p:nvCxnSpPr>
        <p:spPr>
          <a:xfrm>
            <a:off x="4251446" y="3437090"/>
            <a:ext cx="1148316" cy="8434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EAC793F2-F91C-431A-A17B-D339019DB746}"/>
              </a:ext>
            </a:extLst>
          </p:cNvPr>
          <p:cNvCxnSpPr>
            <a:cxnSpLocks/>
          </p:cNvCxnSpPr>
          <p:nvPr/>
        </p:nvCxnSpPr>
        <p:spPr>
          <a:xfrm flipH="1">
            <a:off x="7803084" y="3437090"/>
            <a:ext cx="699418" cy="8980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DDD7C363-C932-4735-B5F9-D636D9CCBAC3}"/>
              </a:ext>
            </a:extLst>
          </p:cNvPr>
          <p:cNvCxnSpPr>
            <a:cxnSpLocks/>
          </p:cNvCxnSpPr>
          <p:nvPr/>
        </p:nvCxnSpPr>
        <p:spPr>
          <a:xfrm>
            <a:off x="8899451" y="3373475"/>
            <a:ext cx="808075" cy="9616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B8FE2-A89C-4637-909C-5D791416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153505"/>
            <a:ext cx="10511627" cy="1012785"/>
          </a:xfrm>
        </p:spPr>
        <p:txBody>
          <a:bodyPr/>
          <a:lstStyle/>
          <a:p>
            <a:r>
              <a:rPr lang="ru-RU" dirty="0"/>
              <a:t>Финальное окно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6BB4ACA-8045-46B2-B034-51423A277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522" y="1280007"/>
            <a:ext cx="6052362" cy="525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092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41" y="1115596"/>
            <a:ext cx="7187608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{C0546272-9DF3-4F4D-84CF-4E6D891375BD}TF8a9b5915-b8c7-461e-8cdd-693d48b5e323138ae9a7_win32-fecfc327da1f</Template>
  <TotalTime>0</TotalTime>
  <Words>697</Words>
  <Application>Microsoft Office PowerPoint</Application>
  <PresentationFormat>Широкоэкранный</PresentationFormat>
  <Paragraphs>87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Liberation Serif</vt:lpstr>
      <vt:lpstr>Times new Roman</vt:lpstr>
      <vt:lpstr>Wingdings</vt:lpstr>
      <vt:lpstr>Пользовательская</vt:lpstr>
      <vt:lpstr>English Maze Adventure  Образовательная игра-головоломка</vt:lpstr>
      <vt:lpstr>содержание</vt:lpstr>
      <vt:lpstr>Актуальность проблемы</vt:lpstr>
      <vt:lpstr>Идея проекта</vt:lpstr>
      <vt:lpstr>Задачи проекта</vt:lpstr>
      <vt:lpstr>Концепция приложения</vt:lpstr>
      <vt:lpstr>Социальная значимость проекта</vt:lpstr>
      <vt:lpstr>Целевая аудитория</vt:lpstr>
      <vt:lpstr>Основные модули и технологии </vt:lpstr>
      <vt:lpstr>Особенности реализации и структура наследования</vt:lpstr>
      <vt:lpstr>Результаты и выводы</vt:lpstr>
      <vt:lpstr>Перспективы развития  </vt:lpstr>
      <vt:lpstr>Финальное окно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2026-02-03T17:41:30Z</dcterms:created>
  <dcterms:modified xsi:type="dcterms:W3CDTF">2026-02-04T18:41:27Z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